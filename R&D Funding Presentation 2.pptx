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89B759-9284-40A4-A20E-42C12EC62B28}" v="6" dt="2026-03-11T17:26:29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>
        <p:scale>
          <a:sx n="68" d="100"/>
          <a:sy n="68" d="100"/>
        </p:scale>
        <p:origin x="6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Zahr" userId="ba9f11d2-c28b-47dc-aac9-1547ec49bc8d" providerId="ADAL" clId="{C6C0874B-CAE4-401B-A64D-A3AEC3551A1F}"/>
    <pc:docChg chg="undo custSel addSld delSld modSld sldOrd">
      <pc:chgData name="Sebastian Zahr" userId="ba9f11d2-c28b-47dc-aac9-1547ec49bc8d" providerId="ADAL" clId="{C6C0874B-CAE4-401B-A64D-A3AEC3551A1F}" dt="2026-03-11T17:32:14.500" v="319" actId="255"/>
      <pc:docMkLst>
        <pc:docMk/>
      </pc:docMkLst>
      <pc:sldChg chg="modSp mod ord">
        <pc:chgData name="Sebastian Zahr" userId="ba9f11d2-c28b-47dc-aac9-1547ec49bc8d" providerId="ADAL" clId="{C6C0874B-CAE4-401B-A64D-A3AEC3551A1F}" dt="2026-03-11T17:27:11.316" v="250"/>
        <pc:sldMkLst>
          <pc:docMk/>
          <pc:sldMk cId="44212184" sldId="257"/>
        </pc:sldMkLst>
        <pc:spChg chg="mod">
          <ac:chgData name="Sebastian Zahr" userId="ba9f11d2-c28b-47dc-aac9-1547ec49bc8d" providerId="ADAL" clId="{C6C0874B-CAE4-401B-A64D-A3AEC3551A1F}" dt="2026-03-11T16:51:56.391" v="113" actId="20577"/>
          <ac:spMkLst>
            <pc:docMk/>
            <pc:sldMk cId="44212184" sldId="257"/>
            <ac:spMk id="2" creationId="{0EF33FB5-F296-2BD6-E5B7-1E3560A027DE}"/>
          </ac:spMkLst>
        </pc:spChg>
        <pc:spChg chg="mod">
          <ac:chgData name="Sebastian Zahr" userId="ba9f11d2-c28b-47dc-aac9-1547ec49bc8d" providerId="ADAL" clId="{C6C0874B-CAE4-401B-A64D-A3AEC3551A1F}" dt="2026-03-11T16:51:25.970" v="109" actId="20578"/>
          <ac:spMkLst>
            <pc:docMk/>
            <pc:sldMk cId="44212184" sldId="257"/>
            <ac:spMk id="3" creationId="{75B93C34-CD3B-51F9-1088-32029D1FD384}"/>
          </ac:spMkLst>
        </pc:spChg>
      </pc:sldChg>
      <pc:sldChg chg="ord">
        <pc:chgData name="Sebastian Zahr" userId="ba9f11d2-c28b-47dc-aac9-1547ec49bc8d" providerId="ADAL" clId="{C6C0874B-CAE4-401B-A64D-A3AEC3551A1F}" dt="2026-03-11T17:27:16.020" v="252"/>
        <pc:sldMkLst>
          <pc:docMk/>
          <pc:sldMk cId="1389570482" sldId="258"/>
        </pc:sldMkLst>
      </pc:sldChg>
      <pc:sldChg chg="ord">
        <pc:chgData name="Sebastian Zahr" userId="ba9f11d2-c28b-47dc-aac9-1547ec49bc8d" providerId="ADAL" clId="{C6C0874B-CAE4-401B-A64D-A3AEC3551A1F}" dt="2026-03-11T17:27:22.203" v="254"/>
        <pc:sldMkLst>
          <pc:docMk/>
          <pc:sldMk cId="2417452083" sldId="259"/>
        </pc:sldMkLst>
      </pc:sldChg>
      <pc:sldChg chg="modSp new mod">
        <pc:chgData name="Sebastian Zahr" userId="ba9f11d2-c28b-47dc-aac9-1547ec49bc8d" providerId="ADAL" clId="{C6C0874B-CAE4-401B-A64D-A3AEC3551A1F}" dt="2026-03-11T17:32:14.500" v="319" actId="255"/>
        <pc:sldMkLst>
          <pc:docMk/>
          <pc:sldMk cId="4226084385" sldId="260"/>
        </pc:sldMkLst>
        <pc:spChg chg="mod">
          <ac:chgData name="Sebastian Zahr" userId="ba9f11d2-c28b-47dc-aac9-1547ec49bc8d" providerId="ADAL" clId="{C6C0874B-CAE4-401B-A64D-A3AEC3551A1F}" dt="2026-03-11T17:20:05.954" v="117" actId="122"/>
          <ac:spMkLst>
            <pc:docMk/>
            <pc:sldMk cId="4226084385" sldId="260"/>
            <ac:spMk id="2" creationId="{DFF7641F-F5C4-495C-7C47-CF44DD069A33}"/>
          </ac:spMkLst>
        </pc:spChg>
        <pc:spChg chg="mod">
          <ac:chgData name="Sebastian Zahr" userId="ba9f11d2-c28b-47dc-aac9-1547ec49bc8d" providerId="ADAL" clId="{C6C0874B-CAE4-401B-A64D-A3AEC3551A1F}" dt="2026-03-11T17:32:14.500" v="319" actId="255"/>
          <ac:spMkLst>
            <pc:docMk/>
            <pc:sldMk cId="4226084385" sldId="260"/>
            <ac:spMk id="3" creationId="{D7C4E041-8DEF-761A-1B18-3C6045C0E3E3}"/>
          </ac:spMkLst>
        </pc:spChg>
      </pc:sldChg>
      <pc:sldChg chg="modSp new mod">
        <pc:chgData name="Sebastian Zahr" userId="ba9f11d2-c28b-47dc-aac9-1547ec49bc8d" providerId="ADAL" clId="{C6C0874B-CAE4-401B-A64D-A3AEC3551A1F}" dt="2026-03-11T17:30:33.755" v="318" actId="113"/>
        <pc:sldMkLst>
          <pc:docMk/>
          <pc:sldMk cId="3338393241" sldId="261"/>
        </pc:sldMkLst>
        <pc:spChg chg="mod">
          <ac:chgData name="Sebastian Zahr" userId="ba9f11d2-c28b-47dc-aac9-1547ec49bc8d" providerId="ADAL" clId="{C6C0874B-CAE4-401B-A64D-A3AEC3551A1F}" dt="2026-03-11T17:29:16.127" v="303" actId="20577"/>
          <ac:spMkLst>
            <pc:docMk/>
            <pc:sldMk cId="3338393241" sldId="261"/>
            <ac:spMk id="2" creationId="{D18913C5-2FCA-5AF9-35E5-7463CE745AEB}"/>
          </ac:spMkLst>
        </pc:spChg>
        <pc:spChg chg="mod">
          <ac:chgData name="Sebastian Zahr" userId="ba9f11d2-c28b-47dc-aac9-1547ec49bc8d" providerId="ADAL" clId="{C6C0874B-CAE4-401B-A64D-A3AEC3551A1F}" dt="2026-03-11T17:30:33.755" v="318" actId="113"/>
          <ac:spMkLst>
            <pc:docMk/>
            <pc:sldMk cId="3338393241" sldId="261"/>
            <ac:spMk id="3" creationId="{6AA9A04F-E67F-2962-B725-8739FF8DE847}"/>
          </ac:spMkLst>
        </pc:spChg>
      </pc:sldChg>
      <pc:sldChg chg="modSp new mod">
        <pc:chgData name="Sebastian Zahr" userId="ba9f11d2-c28b-47dc-aac9-1547ec49bc8d" providerId="ADAL" clId="{C6C0874B-CAE4-401B-A64D-A3AEC3551A1F}" dt="2026-03-11T17:27:01.383" v="248" actId="20577"/>
        <pc:sldMkLst>
          <pc:docMk/>
          <pc:sldMk cId="3967629014" sldId="262"/>
        </pc:sldMkLst>
        <pc:spChg chg="mod">
          <ac:chgData name="Sebastian Zahr" userId="ba9f11d2-c28b-47dc-aac9-1547ec49bc8d" providerId="ADAL" clId="{C6C0874B-CAE4-401B-A64D-A3AEC3551A1F}" dt="2026-03-11T17:27:01.383" v="248" actId="20577"/>
          <ac:spMkLst>
            <pc:docMk/>
            <pc:sldMk cId="3967629014" sldId="262"/>
            <ac:spMk id="2" creationId="{0304C2ED-979B-689E-6C7A-C16D195AF6D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0AD71-45F8-5F81-8899-720961275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B1A6F-0EFE-3D47-5083-DA1CADE1D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6BCB4-903E-C1D7-5CBA-007115513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D015-F4F5-4EDF-AEF6-D0A2626A71A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47613-9682-2406-3490-F40106BC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735B7-EFAC-9CD4-C262-36BB1D692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FF1B9-2563-4259-87A4-0043E107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241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805F4-85C0-B71F-7675-0A2D97D15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55D64-B943-D387-35AF-9BA504736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01058-4FAA-46FF-D777-FA6DCB2F5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D015-F4F5-4EDF-AEF6-D0A2626A71A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AB87D-D526-7E11-5E29-02A90A6B0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1B7AE-3CFB-C78F-DA37-57DBAA9A9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FF1B9-2563-4259-87A4-0043E107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7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D5913-7776-EA32-14BC-18C3A47D9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0ACFE-8C89-B03D-0A65-70FBC888A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40FC2-F838-10CF-EC47-CCCF0297F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D015-F4F5-4EDF-AEF6-D0A2626A71A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AF183-4808-6D94-5782-585FC3901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7FF60-CF21-6D67-F80B-7B3067F21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FF1B9-2563-4259-87A4-0043E107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701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9B6C-BE1D-C29A-A676-4D53C8D42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50E24-0EA2-5CD0-07DD-B582C679A4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4D3A1F-5EF6-F423-02D1-4D578D826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76FF8-0B37-3AAD-9571-C91AD07CA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D015-F4F5-4EDF-AEF6-D0A2626A71A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0353D-57BE-E662-BD21-B5DED3282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5524E-2C0B-9D4E-EDE8-88F6FE16D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FF1B9-2563-4259-87A4-0043E107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50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6035-013A-21AA-E451-A1491AF66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7B5E5-8CA6-44C1-7FE4-A1BBAAE7E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ADEC2F-B24D-BA26-673E-62FF8B044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728E78-907A-5628-2C9E-23D70395C7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F2D643-56C4-A760-ACF2-3050B9CB5A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E900DB-D515-6BA0-B5E0-9463B1525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D015-F4F5-4EDF-AEF6-D0A2626A71A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F8CFF1-9E80-7DC7-F05D-92FF031DD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ED6836-9239-3D31-D65A-4769A1863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FF1B9-2563-4259-87A4-0043E107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68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88C91-9B1C-D32D-FFB3-1F38141A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B4FF17-D682-A633-BDB9-C61901960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D015-F4F5-4EDF-AEF6-D0A2626A71A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0D3C7C-643D-4E1E-EB1F-6FE9432C6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192C9-BA23-C404-65AD-DDB780E4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FF1B9-2563-4259-87A4-0043E107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54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FC347C-17DA-29BD-D500-AB0860BA2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D015-F4F5-4EDF-AEF6-D0A2626A71A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64CE88-CE15-E946-2B95-964D9953E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0790A-EE25-48BD-C477-26E9ECBEC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FF1B9-2563-4259-87A4-0043E107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629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59646-0B66-E3C6-274B-1C271300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C5ABE-5590-5165-B7C3-011C92123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24A6A-B699-E095-6F1C-727622D7F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9EBD9-797E-74C5-C143-D7E399888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D015-F4F5-4EDF-AEF6-D0A2626A71A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5C51A-E865-DEE1-788F-9F2F249B4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178AA-627D-5C53-73A7-8DF508624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FF1B9-2563-4259-87A4-0043E107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37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CDEFE-B363-B58A-729B-7DC59CC9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3CC26C-1033-3AB5-6F3D-E836DBEF67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9EA338-1E4F-ADB8-E2BD-0D430CEC0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91464-742D-9499-79C9-22217BB59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D015-F4F5-4EDF-AEF6-D0A2626A71A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C1B95-28E2-E502-A8D5-E6DBC4C16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85779-CA31-ADD3-987F-7845B3FED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FF1B9-2563-4259-87A4-0043E107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96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C66D8-AD72-F904-0C55-6F356C240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ACA458-BC57-A91C-B6A6-7A170BBFB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30AC3-778B-5A1D-19CD-36AE57AD8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D015-F4F5-4EDF-AEF6-D0A2626A71A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42BA3-12E3-FF2A-F29F-56F6B6EEA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DD3F0-5F5C-4DB8-A731-F2E9E3F2B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FF1B9-2563-4259-87A4-0043E107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711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44316A-1700-B93D-5C4D-DF004E17F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3752CD-695B-9A52-9C16-C3C02E551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F25C1-26D6-0F5D-DF95-256B0B0CC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D015-F4F5-4EDF-AEF6-D0A2626A71A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CEA9A-87AF-9838-24DE-0D8F1054F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B9D14-3E92-2EBA-F1C1-57DC7611D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FF1B9-2563-4259-87A4-0043E107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80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6D46C-80A8-0660-058B-9A9D1F7D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B79B9-679C-D1F6-B9E2-8F2BED9A1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F41B5-7B3F-44F8-6912-7C7B4B03B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FD015-F4F5-4EDF-AEF6-D0A2626A71A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F6EE9-62F0-A236-E05D-7776081ED8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AD443-0F6E-3ABE-82AF-C381489D8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3FF1B9-2563-4259-87A4-0043E107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9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7641F-F5C4-495C-7C47-CF44DD06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External R&amp;D Funding Pathways to Accelerate Soldier Textile Innovation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4E041-8DEF-761A-1B18-3C6045C0E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000" dirty="0"/>
              <a:t>U.S. Army Combat Capabilities Development Command Army Research Laboratory (DEVCOM ARL) BAA – W911NF-23-S-0001</a:t>
            </a:r>
          </a:p>
          <a:p>
            <a:r>
              <a:rPr lang="en-US" sz="1000" dirty="0"/>
              <a:t>Defense Established Program to Stimulate Competitive Research (</a:t>
            </a:r>
            <a:r>
              <a:rPr lang="en-US" sz="1000" dirty="0" err="1"/>
              <a:t>DEPSCoR</a:t>
            </a:r>
            <a:r>
              <a:rPr lang="en-US" sz="1000" dirty="0"/>
              <a:t>) (Kansas should qualify)</a:t>
            </a:r>
          </a:p>
          <a:p>
            <a:pPr lvl="1"/>
            <a:r>
              <a:rPr lang="en-US" sz="1000" dirty="0"/>
              <a:t>Focus Areas:</a:t>
            </a:r>
          </a:p>
          <a:p>
            <a:pPr lvl="2"/>
            <a:r>
              <a:rPr lang="en-US" sz="1000" dirty="0"/>
              <a:t>advanced fibers and yarns</a:t>
            </a:r>
          </a:p>
          <a:p>
            <a:pPr lvl="2"/>
            <a:r>
              <a:rPr lang="en-US" sz="1000" dirty="0"/>
              <a:t>smart fabrics / e-textiles</a:t>
            </a:r>
          </a:p>
          <a:p>
            <a:pPr lvl="2"/>
            <a:r>
              <a:rPr lang="en-US" sz="1000" dirty="0"/>
              <a:t>protective textile materials</a:t>
            </a:r>
          </a:p>
          <a:p>
            <a:r>
              <a:rPr lang="en-US" sz="1000" dirty="0"/>
              <a:t>U.S. Army DEVCOM Soldier Center BAA – W911QY-25-R-0023</a:t>
            </a:r>
          </a:p>
          <a:p>
            <a:r>
              <a:rPr lang="en-US" sz="1000" dirty="0"/>
              <a:t>U.S. Army Small Business Innovation Research Program (SBIR)</a:t>
            </a:r>
          </a:p>
          <a:p>
            <a:r>
              <a:rPr lang="en-US" sz="1000" dirty="0"/>
              <a:t>Small Business Technology Transfer Program (STTR)</a:t>
            </a:r>
          </a:p>
          <a:p>
            <a:pPr lvl="1"/>
            <a:r>
              <a:rPr lang="en-US" sz="1000" dirty="0"/>
              <a:t>Focus Areas:</a:t>
            </a:r>
          </a:p>
          <a:p>
            <a:pPr lvl="2"/>
            <a:r>
              <a:rPr lang="en-US" sz="1000" dirty="0"/>
              <a:t>combat uniform materials</a:t>
            </a:r>
          </a:p>
          <a:p>
            <a:pPr lvl="2"/>
            <a:r>
              <a:rPr lang="en-US" sz="1000" dirty="0"/>
              <a:t>thermal management fabrics</a:t>
            </a:r>
          </a:p>
          <a:p>
            <a:pPr lvl="2"/>
            <a:r>
              <a:rPr lang="en-US" sz="1000" dirty="0"/>
              <a:t>antimicrobial textiles</a:t>
            </a:r>
          </a:p>
          <a:p>
            <a:pPr lvl="2"/>
            <a:r>
              <a:rPr lang="en-US" sz="1000" dirty="0"/>
              <a:t>integrated wearable technologies</a:t>
            </a:r>
          </a:p>
          <a:p>
            <a:r>
              <a:rPr lang="en-US" sz="1000" dirty="0"/>
              <a:t>National Armaments Consortium OTA prototype projects</a:t>
            </a:r>
          </a:p>
          <a:p>
            <a:r>
              <a:rPr lang="en-US" sz="1000" dirty="0"/>
              <a:t>Medical CBRN Defense Consortium OTA</a:t>
            </a:r>
          </a:p>
          <a:p>
            <a:r>
              <a:rPr lang="en-US" sz="1000" dirty="0"/>
              <a:t>Defense Innovation Unit Commercial Solutions Openings (CSO)</a:t>
            </a:r>
          </a:p>
          <a:p>
            <a:r>
              <a:rPr lang="en-US" sz="1000" dirty="0"/>
              <a:t>Manufacturing Innovation &amp; Industrial Base Development</a:t>
            </a:r>
          </a:p>
          <a:p>
            <a:pPr lvl="1"/>
            <a:r>
              <a:rPr lang="en-US" sz="1000" dirty="0"/>
              <a:t>Advanced Functional Fabrics of America (AFFOA)</a:t>
            </a:r>
          </a:p>
          <a:p>
            <a:pPr lvl="1"/>
            <a:r>
              <a:rPr lang="en-US" sz="1000" dirty="0"/>
              <a:t>Manufacturing USA institutes</a:t>
            </a:r>
          </a:p>
          <a:p>
            <a:pPr lvl="1"/>
            <a:r>
              <a:rPr lang="en-US" sz="1000" dirty="0"/>
              <a:t>Defense Production Act Title III Program</a:t>
            </a:r>
          </a:p>
          <a:p>
            <a:pPr marL="0" indent="0">
              <a:buNone/>
            </a:pPr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2608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913C5-2FCA-5AF9-35E5-7463CE745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Envision as a Transition Partner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9A04F-E67F-2962-B725-8739FF8DE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Rapid prototyping and pilot manufacturing partner supporting:</a:t>
            </a:r>
          </a:p>
          <a:p>
            <a:pPr lvl="2"/>
            <a:r>
              <a:rPr lang="en-US" dirty="0"/>
              <a:t>DEVCOM Soldier Center research programs</a:t>
            </a:r>
          </a:p>
          <a:p>
            <a:pPr lvl="2"/>
            <a:r>
              <a:rPr lang="en-US" dirty="0"/>
              <a:t>OTA prototype projects</a:t>
            </a:r>
          </a:p>
          <a:p>
            <a:pPr lvl="2"/>
            <a:r>
              <a:rPr lang="en-US" dirty="0"/>
              <a:t>Manufacturing USA textile innovation initiatives</a:t>
            </a:r>
          </a:p>
          <a:p>
            <a:r>
              <a:rPr lang="en-US" b="1" dirty="0"/>
              <a:t>Capabilities include:</a:t>
            </a:r>
          </a:p>
          <a:p>
            <a:pPr marL="0" indent="0">
              <a:buNone/>
            </a:pPr>
            <a:r>
              <a:rPr lang="en-US" dirty="0"/>
              <a:t>	• advanced cut &amp; sew prototyping</a:t>
            </a:r>
            <a:br>
              <a:rPr lang="en-US" dirty="0"/>
            </a:br>
            <a:r>
              <a:rPr lang="en-US" dirty="0"/>
              <a:t>	• soldier garment development</a:t>
            </a:r>
            <a:br>
              <a:rPr lang="en-US" dirty="0"/>
            </a:br>
            <a:r>
              <a:rPr lang="en-US" dirty="0"/>
              <a:t>	• small batch manufacturing</a:t>
            </a:r>
            <a:br>
              <a:rPr lang="en-US" dirty="0"/>
            </a:br>
            <a:r>
              <a:rPr lang="en-US" dirty="0"/>
              <a:t>	• textile system integration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393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4C2ED-979B-689E-6C7A-C16D195AF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up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F0029-E3B9-9C13-3937-31947930B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629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33FB5-F296-2BD6-E5B7-1E3560A02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R&amp;D Funding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93C34-CD3B-51F9-1088-32029D1FD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6041"/>
            <a:ext cx="10515600" cy="4876834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DEVCOM Soldier Center Broad Agency Announcement (BAA)</a:t>
            </a:r>
          </a:p>
          <a:p>
            <a:pPr lvl="1"/>
            <a:r>
              <a:rPr lang="en-US" dirty="0"/>
              <a:t>Solicitation: DEVCOM Soldier Center BAA W911QY-25-R-0023</a:t>
            </a:r>
          </a:p>
          <a:p>
            <a:pPr lvl="1"/>
            <a:r>
              <a:rPr lang="en-US" dirty="0"/>
              <a:t>Relevant research areas include:</a:t>
            </a:r>
          </a:p>
          <a:p>
            <a:pPr lvl="2"/>
            <a:r>
              <a:rPr lang="en-US" dirty="0"/>
              <a:t>Soldier protection &amp; survivability</a:t>
            </a:r>
          </a:p>
          <a:p>
            <a:pPr lvl="2"/>
            <a:r>
              <a:rPr lang="en-US" dirty="0"/>
              <a:t>textile technologies</a:t>
            </a:r>
          </a:p>
          <a:p>
            <a:pPr lvl="2"/>
            <a:r>
              <a:rPr lang="en-US" dirty="0"/>
              <a:t>advanced materials</a:t>
            </a:r>
          </a:p>
          <a:p>
            <a:pPr lvl="2"/>
            <a:r>
              <a:rPr lang="en-US" dirty="0"/>
              <a:t>soldier effectiveness systems</a:t>
            </a:r>
          </a:p>
          <a:p>
            <a:r>
              <a:rPr lang="en-US" dirty="0"/>
              <a:t>Army Research Laboratory (DEVCOM ARL) BAA</a:t>
            </a:r>
          </a:p>
          <a:p>
            <a:pPr lvl="1"/>
            <a:r>
              <a:rPr lang="en-US" dirty="0"/>
              <a:t>Solicitation: DEVCOM ARL BAA W911NF-23-S-0001</a:t>
            </a:r>
          </a:p>
          <a:p>
            <a:pPr lvl="1"/>
            <a:r>
              <a:rPr lang="en-US" dirty="0"/>
              <a:t>Fund fundamental and applied research across:</a:t>
            </a:r>
          </a:p>
          <a:p>
            <a:pPr lvl="2"/>
            <a:r>
              <a:rPr lang="en-US" dirty="0"/>
              <a:t>advanced materials</a:t>
            </a:r>
          </a:p>
          <a:p>
            <a:pPr lvl="2"/>
            <a:r>
              <a:rPr lang="en-US" dirty="0"/>
              <a:t>human performance systems</a:t>
            </a:r>
          </a:p>
          <a:p>
            <a:pPr lvl="2"/>
            <a:r>
              <a:rPr lang="en-US" dirty="0"/>
              <a:t>wearable technologies</a:t>
            </a:r>
          </a:p>
          <a:p>
            <a:r>
              <a:rPr lang="en-US" dirty="0"/>
              <a:t>Advanced Functional Fabrics of America (AFFOA)</a:t>
            </a:r>
          </a:p>
          <a:p>
            <a:pPr lvl="1"/>
            <a:r>
              <a:rPr lang="en-US" cap="all" dirty="0"/>
              <a:t>Product Accelerator for Functional Fabrics 3.0</a:t>
            </a:r>
          </a:p>
          <a:p>
            <a:pPr lvl="2"/>
            <a:r>
              <a:rPr lang="en-US" dirty="0"/>
              <a:t>Digital Engineering / Manufacturing  </a:t>
            </a:r>
          </a:p>
          <a:p>
            <a:pPr lvl="2"/>
            <a:r>
              <a:rPr lang="en-US" dirty="0"/>
              <a:t>Textile Manufacturing Automation  </a:t>
            </a:r>
          </a:p>
          <a:p>
            <a:pPr lvl="2"/>
            <a:r>
              <a:rPr lang="en-US" dirty="0"/>
              <a:t>Manufacturing Scale-Up  </a:t>
            </a:r>
          </a:p>
          <a:p>
            <a:pPr lvl="2"/>
            <a:r>
              <a:rPr lang="en-US" dirty="0"/>
              <a:t>Progressing TRL/MRL of Advanced Fibers and Fabrics</a:t>
            </a:r>
          </a:p>
          <a:p>
            <a:r>
              <a:rPr lang="en-US" dirty="0"/>
              <a:t>Cooperative Research &amp; Development Agreements (CRADA)</a:t>
            </a:r>
          </a:p>
          <a:p>
            <a:pPr lvl="1"/>
            <a:r>
              <a:rPr lang="en-US" dirty="0"/>
              <a:t>DEVCOM Soldier Center frequently uses CRADAs for:</a:t>
            </a:r>
          </a:p>
          <a:p>
            <a:pPr lvl="2"/>
            <a:r>
              <a:rPr lang="en-US" dirty="0"/>
              <a:t>textile material testing</a:t>
            </a:r>
          </a:p>
          <a:p>
            <a:pPr lvl="2"/>
            <a:r>
              <a:rPr lang="en-US" dirty="0"/>
              <a:t>soldier system experimentation</a:t>
            </a:r>
          </a:p>
          <a:p>
            <a:pPr lvl="2"/>
            <a:r>
              <a:rPr lang="en-US" dirty="0"/>
              <a:t>prototype evaluation</a:t>
            </a:r>
          </a:p>
          <a:p>
            <a:pPr lvl="2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12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A548E-20BB-BDB4-9295-7A932551D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Other Transaction Authority (OTA) Prototype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F198A-F080-98E7-0EE2-96CF884A1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National Armaments Consortium (NAC)</a:t>
            </a:r>
          </a:p>
          <a:p>
            <a:pPr lvl="1"/>
            <a:r>
              <a:rPr lang="en-US" dirty="0"/>
              <a:t>Focus:</a:t>
            </a:r>
          </a:p>
          <a:p>
            <a:pPr lvl="2"/>
            <a:r>
              <a:rPr lang="en-US" dirty="0"/>
              <a:t>soldier equipment</a:t>
            </a:r>
          </a:p>
          <a:p>
            <a:pPr lvl="2"/>
            <a:r>
              <a:rPr lang="en-US" dirty="0"/>
              <a:t>protective systems</a:t>
            </a:r>
          </a:p>
          <a:p>
            <a:pPr lvl="2"/>
            <a:r>
              <a:rPr lang="en-US" dirty="0"/>
              <a:t>body armor</a:t>
            </a:r>
          </a:p>
          <a:p>
            <a:pPr lvl="2"/>
            <a:r>
              <a:rPr lang="en-US" dirty="0"/>
              <a:t>soldier wearables</a:t>
            </a:r>
          </a:p>
          <a:p>
            <a:r>
              <a:rPr lang="en-US" dirty="0"/>
              <a:t>Medical CBRN Defense Consortium (MCDC)</a:t>
            </a:r>
          </a:p>
          <a:p>
            <a:pPr lvl="1"/>
            <a:r>
              <a:rPr lang="en-US" dirty="0"/>
              <a:t>Focus:</a:t>
            </a:r>
          </a:p>
          <a:p>
            <a:pPr lvl="2"/>
            <a:r>
              <a:rPr lang="en-US" dirty="0"/>
              <a:t>protective clothing</a:t>
            </a:r>
          </a:p>
          <a:p>
            <a:pPr lvl="2"/>
            <a:r>
              <a:rPr lang="en-US" dirty="0"/>
              <a:t>contamination resistant fabrics</a:t>
            </a:r>
          </a:p>
          <a:p>
            <a:pPr lvl="2"/>
            <a:r>
              <a:rPr lang="en-US" dirty="0"/>
              <a:t>chemical/biological protective materials</a:t>
            </a:r>
          </a:p>
          <a:p>
            <a:r>
              <a:rPr lang="en-US" dirty="0"/>
              <a:t>Defense Industrial Base Consortium (DIBC)</a:t>
            </a:r>
          </a:p>
          <a:p>
            <a:pPr lvl="1"/>
            <a:r>
              <a:rPr lang="en-US" dirty="0"/>
              <a:t>Focus:</a:t>
            </a:r>
          </a:p>
          <a:p>
            <a:pPr lvl="2"/>
            <a:r>
              <a:rPr lang="en-US" dirty="0"/>
              <a:t>domestic manufacturing</a:t>
            </a:r>
          </a:p>
          <a:p>
            <a:pPr lvl="2"/>
            <a:r>
              <a:rPr lang="en-US" dirty="0"/>
              <a:t>supply chain resilience</a:t>
            </a:r>
          </a:p>
          <a:p>
            <a:pPr lvl="2"/>
            <a:r>
              <a:rPr lang="en-US" dirty="0"/>
              <a:t>advanced manufacturing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570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BBBCC-02F1-93DA-6596-163EC901E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Funding Programs That Require Small Business Technology Partners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5274E-9648-2311-3FE4-E2EA81B2E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Army STTR </a:t>
            </a:r>
          </a:p>
          <a:p>
            <a:pPr lvl="2"/>
            <a:r>
              <a:rPr lang="en-US" dirty="0"/>
              <a:t>Prime: Small Business</a:t>
            </a:r>
          </a:p>
          <a:p>
            <a:pPr lvl="2"/>
            <a:r>
              <a:rPr lang="en-US" dirty="0"/>
              <a:t>Research Partner: NIAR and WSU University</a:t>
            </a:r>
          </a:p>
          <a:p>
            <a:r>
              <a:rPr lang="en-US" dirty="0"/>
              <a:t>Army SBIR</a:t>
            </a:r>
          </a:p>
          <a:p>
            <a:pPr lvl="1"/>
            <a:r>
              <a:rPr lang="en-US" dirty="0"/>
              <a:t>nonprofits can participate as:</a:t>
            </a:r>
          </a:p>
          <a:p>
            <a:pPr lvl="2"/>
            <a:r>
              <a:rPr lang="en-US" dirty="0"/>
              <a:t>subcontractors</a:t>
            </a:r>
          </a:p>
          <a:p>
            <a:pPr lvl="2"/>
            <a:r>
              <a:rPr lang="en-US" dirty="0"/>
              <a:t>research partners</a:t>
            </a:r>
          </a:p>
          <a:p>
            <a:pPr lvl="2"/>
            <a:r>
              <a:rPr lang="en-US" dirty="0"/>
              <a:t>testing laboratories</a:t>
            </a:r>
          </a:p>
          <a:p>
            <a:r>
              <a:rPr lang="en-US" dirty="0"/>
              <a:t>Army </a:t>
            </a:r>
            <a:r>
              <a:rPr lang="en-US" dirty="0" err="1"/>
              <a:t>xTech</a:t>
            </a:r>
            <a:r>
              <a:rPr lang="en-US" dirty="0"/>
              <a:t> / Innovation Programs</a:t>
            </a:r>
          </a:p>
          <a:p>
            <a:pPr lvl="1"/>
            <a:r>
              <a:rPr lang="en-US" dirty="0"/>
              <a:t>Administered by: Army Applications Laboratory and Army Futures Command</a:t>
            </a:r>
          </a:p>
          <a:p>
            <a:pPr lvl="1"/>
            <a:r>
              <a:rPr lang="en-US" dirty="0"/>
              <a:t>Programs include:</a:t>
            </a:r>
          </a:p>
          <a:p>
            <a:pPr lvl="2"/>
            <a:r>
              <a:rPr lang="en-US" dirty="0" err="1"/>
              <a:t>xTechSearch</a:t>
            </a:r>
            <a:endParaRPr lang="en-US" dirty="0"/>
          </a:p>
          <a:p>
            <a:pPr lvl="2"/>
            <a:r>
              <a:rPr lang="en-US" dirty="0" err="1"/>
              <a:t>xTech</a:t>
            </a:r>
            <a:r>
              <a:rPr lang="en-US" dirty="0"/>
              <a:t> Soldier Lethality</a:t>
            </a:r>
          </a:p>
          <a:p>
            <a:pPr lvl="1"/>
            <a:r>
              <a:rPr lang="en-US" dirty="0"/>
              <a:t>These programs fund:</a:t>
            </a:r>
          </a:p>
          <a:p>
            <a:pPr lvl="2"/>
            <a:r>
              <a:rPr lang="en-US" dirty="0"/>
              <a:t>prototype development</a:t>
            </a:r>
          </a:p>
          <a:p>
            <a:pPr lvl="2"/>
            <a:r>
              <a:rPr lang="en-US" dirty="0"/>
              <a:t>rapid experimentation</a:t>
            </a:r>
          </a:p>
          <a:p>
            <a:pPr lvl="1"/>
            <a:r>
              <a:rPr lang="en-US" dirty="0"/>
              <a:t>Nonprofits can participate as technology partners or testing facilities.</a:t>
            </a:r>
          </a:p>
          <a:p>
            <a:pPr marL="0" indent="0" algn="ctr">
              <a:buNone/>
            </a:pPr>
            <a:r>
              <a:rPr lang="en-US" b="1" dirty="0"/>
              <a:t>This positions Envision as</a:t>
            </a:r>
            <a:r>
              <a:rPr lang="en-US" dirty="0"/>
              <a:t> </a:t>
            </a:r>
            <a:r>
              <a:rPr lang="en-US" b="1" dirty="0"/>
              <a:t>a funded innovation partner — not just a manufacturer.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52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471</Words>
  <Application>Microsoft Office PowerPoint</Application>
  <PresentationFormat>Widescreen</PresentationFormat>
  <Paragraphs>94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External R&amp;D Funding Pathways to Accelerate Soldier Textile Innovation</vt:lpstr>
      <vt:lpstr>Envision as a Transition Partner</vt:lpstr>
      <vt:lpstr>Back up Slides</vt:lpstr>
      <vt:lpstr>R&amp;D Funding</vt:lpstr>
      <vt:lpstr>Other Transaction Authority (OTA) Prototype Programs</vt:lpstr>
      <vt:lpstr>Funding Programs That Require Small Business Technology Partners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Zahr</dc:creator>
  <cp:lastModifiedBy>Sebastian Zahr</cp:lastModifiedBy>
  <cp:revision>1</cp:revision>
  <dcterms:created xsi:type="dcterms:W3CDTF">2026-03-09T21:27:57Z</dcterms:created>
  <dcterms:modified xsi:type="dcterms:W3CDTF">2026-03-11T17:32:25Z</dcterms:modified>
</cp:coreProperties>
</file>